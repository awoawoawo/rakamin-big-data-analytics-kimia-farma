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embeddedFontLst>
    <p:embeddedFont>
      <p:font typeface="Rubik" panose="020B0604020202020204" charset="-79"/>
      <p:regular r:id="rId13"/>
      <p:bold r:id="rId14"/>
      <p:italic r:id="rId15"/>
      <p:boldItalic r:id="rId16"/>
    </p:embeddedFont>
    <p:embeddedFont>
      <p:font typeface="Rubik Light" panose="020B0604020202020204" charset="-79"/>
      <p:regular r:id="rId17"/>
      <p:bold r:id="rId18"/>
      <p:italic r:id="rId19"/>
      <p:boldItalic r:id="rId20"/>
    </p:embeddedFont>
    <p:embeddedFont>
      <p:font typeface="Rubik Medium" panose="020B0604020202020204" charset="-79"/>
      <p:regular r:id="rId21"/>
      <p:bold r:id="rId22"/>
      <p:italic r:id="rId23"/>
      <p:boldItalic r:id="rId24"/>
    </p:embeddedFont>
    <p:embeddedFont>
      <p:font typeface="Rubik SemiBold" panose="020B0604020202020204" charset="-79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1nl8uAJepcjcA2CnLI/GAkZtj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228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5ee868302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65ee868302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ec2985a68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23ec2985a68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3ec2985a6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3ec2985a68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ec2985a68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23ec2985a68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drive/folders/1eRQJFecfGN45OKW8KrhBE2WiWCY5i6q6?usp=sharing" TargetMode="External"/><Relationship Id="rId5" Type="http://schemas.openxmlformats.org/officeDocument/2006/relationships/hyperlink" Target="https://github.com/awoawoawo/Rakamin-Big-Data-Analytics-Kimia-Farma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-1" y="-1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517899" y="1409737"/>
            <a:ext cx="6307773" cy="18004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fi-FI" sz="3500" b="1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Analisis kinerja bisnis Kimia Farma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fi-FI" sz="3500" b="1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Tahun 2020-2023</a:t>
            </a:r>
          </a:p>
        </p:txBody>
      </p:sp>
      <p:sp>
        <p:nvSpPr>
          <p:cNvPr id="57" name="Google Shape;57;p1"/>
          <p:cNvSpPr txBox="1"/>
          <p:nvPr/>
        </p:nvSpPr>
        <p:spPr>
          <a:xfrm>
            <a:off x="517900" y="3130300"/>
            <a:ext cx="7289100" cy="569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Kimia Farma </a:t>
            </a:r>
            <a:r>
              <a:rPr lang="en" sz="25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- </a:t>
            </a:r>
            <a:r>
              <a:rPr lang="en" sz="25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Big Data Analytics</a:t>
            </a:r>
            <a:endParaRPr sz="25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17900" y="3699700"/>
            <a:ext cx="4392000" cy="954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sz="2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000" b="0" i="0" u="none" strike="noStrike" cap="none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Aditya Dwi Wibowo</a:t>
            </a:r>
            <a:endParaRPr sz="3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61" name="Google Shape;61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0825" y="133900"/>
            <a:ext cx="1581660" cy="5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033575" y="470775"/>
            <a:ext cx="2431800" cy="32988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4867250" y="959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dirty="0">
                <a:latin typeface="Rubik SemiBold"/>
                <a:ea typeface="Rubik SemiBold"/>
                <a:cs typeface="Rubik SemiBold"/>
                <a:sym typeface="Rubik SemiBold"/>
              </a:rPr>
              <a:t>Aditya Dwi Wibowo</a:t>
            </a:r>
            <a:endParaRPr sz="2000" b="0" i="0" u="none" strike="noStrike" cap="none" dirty="0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4867250" y="1604175"/>
            <a:ext cx="35046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600" dirty="0">
                <a:solidFill>
                  <a:srgbClr val="019FAB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Mahasiswa S1 Teknik Informatika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600" b="0" i="0" u="none" strike="noStrike" cap="none" dirty="0">
                <a:solidFill>
                  <a:srgbClr val="019FAB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Universitas Mercu Buana</a:t>
            </a:r>
            <a:endParaRPr sz="1600" b="0" i="0" u="none" strike="noStrike" cap="none" dirty="0">
              <a:solidFill>
                <a:srgbClr val="019FAB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4867250" y="2453075"/>
            <a:ext cx="3781450" cy="2366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050" dirty="0">
                <a:latin typeface="Rubik Medium"/>
                <a:ea typeface="Rubik Medium"/>
                <a:cs typeface="Rubik Medium"/>
                <a:sym typeface="Rubik Medium"/>
              </a:rPr>
              <a:t>Saya merupakan mahasiswa S1 semester 4 Program Studi Teknik Informatika Universitas Mercu Buana yang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memiliki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minat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dalam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bidang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data,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khususnya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b="1" dirty="0">
                <a:latin typeface="Rubik Medium"/>
                <a:ea typeface="Rubik Medium"/>
                <a:cs typeface="Rubik Medium"/>
                <a:sym typeface="Rubik Medium"/>
              </a:rPr>
              <a:t>data science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, </a:t>
            </a:r>
            <a:r>
              <a:rPr lang="en-ID" sz="1050" b="1" dirty="0">
                <a:latin typeface="Rubik Medium"/>
                <a:ea typeface="Rubik Medium"/>
                <a:cs typeface="Rubik Medium"/>
                <a:sym typeface="Rubik Medium"/>
              </a:rPr>
              <a:t>data analytics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, dan </a:t>
            </a:r>
            <a:r>
              <a:rPr lang="en-ID" sz="1050" b="1" dirty="0">
                <a:latin typeface="Rubik Medium"/>
                <a:ea typeface="Rubik Medium"/>
                <a:cs typeface="Rubik Medium"/>
                <a:sym typeface="Rubik Medium"/>
              </a:rPr>
              <a:t>machine learning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. Saya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memiliki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keahlian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dalam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menggunakan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b="1" dirty="0">
                <a:latin typeface="Rubik Medium"/>
                <a:ea typeface="Rubik Medium"/>
                <a:cs typeface="Rubik Medium"/>
                <a:sym typeface="Rubik Medium"/>
              </a:rPr>
              <a:t>Python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untuk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analisis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data dan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pemodelan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, </a:t>
            </a:r>
            <a:r>
              <a:rPr lang="en-ID" sz="1050" b="1" dirty="0">
                <a:latin typeface="Rubik Medium"/>
                <a:ea typeface="Rubik Medium"/>
                <a:cs typeface="Rubik Medium"/>
                <a:sym typeface="Rubik Medium"/>
              </a:rPr>
              <a:t>SQL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untuk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pengelolaan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dan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pengambilan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data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dari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basis data, </a:t>
            </a:r>
            <a:r>
              <a:rPr lang="en-ID" sz="1050" b="1" dirty="0">
                <a:latin typeface="Rubik Medium"/>
                <a:ea typeface="Rubik Medium"/>
                <a:cs typeface="Rubik Medium"/>
                <a:sym typeface="Rubik Medium"/>
              </a:rPr>
              <a:t>Microsoft Excel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untuk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analisis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cepat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dan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pengolahan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data,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serta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b="1" dirty="0">
                <a:latin typeface="Rubik Medium"/>
                <a:ea typeface="Rubik Medium"/>
                <a:cs typeface="Rubik Medium"/>
                <a:sym typeface="Rubik Medium"/>
              </a:rPr>
              <a:t>Power BI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untuk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membuat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</a:t>
            </a:r>
            <a:r>
              <a:rPr lang="en-ID" sz="1050" dirty="0" err="1">
                <a:latin typeface="Rubik Medium"/>
                <a:ea typeface="Rubik Medium"/>
                <a:cs typeface="Rubik Medium"/>
                <a:sym typeface="Rubik Medium"/>
              </a:rPr>
              <a:t>visualisasi</a:t>
            </a:r>
            <a:r>
              <a:rPr lang="en-ID" sz="1050" dirty="0">
                <a:latin typeface="Rubik Medium"/>
                <a:ea typeface="Rubik Medium"/>
                <a:cs typeface="Rubik Medium"/>
                <a:sym typeface="Rubik Medium"/>
              </a:rPr>
              <a:t> data.</a:t>
            </a:r>
            <a:endParaRPr sz="105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1004800" y="3928325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dirty="0">
                <a:latin typeface="Rubik Medium"/>
                <a:ea typeface="Rubik Medium"/>
                <a:cs typeface="Rubik Medium"/>
                <a:sym typeface="Rubik Medium"/>
              </a:rPr>
              <a:t>Jakarta Selatan, Indonesia</a:t>
            </a:r>
            <a:endParaRPr sz="12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750" y="4774200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300" y="3912875"/>
            <a:ext cx="400201" cy="40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096" y="4411877"/>
            <a:ext cx="369300" cy="26351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1004800" y="4750550"/>
            <a:ext cx="4572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D" sz="1200" dirty="0">
                <a:latin typeface="Rubik Medium"/>
                <a:ea typeface="Rubik Medium"/>
                <a:cs typeface="Rubik Medium"/>
                <a:sym typeface="Rubik Medium"/>
              </a:rPr>
              <a:t>https://www.linkedin.com/in/aditya-dwi-wibowo</a:t>
            </a:r>
            <a:endParaRPr sz="12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1004800" y="4358988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dirty="0">
                <a:latin typeface="Rubik Medium"/>
                <a:ea typeface="Rubik Medium"/>
                <a:cs typeface="Rubik Medium"/>
                <a:sym typeface="Rubik Medium"/>
              </a:rPr>
              <a:t>aditbowo20@gmail.com</a:t>
            </a:r>
            <a:endParaRPr sz="120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3" name="Picture 2" descr="A person looking up to the side&#10;&#10;AI-generated content may be incorrect.">
            <a:extLst>
              <a:ext uri="{FF2B5EF4-FFF2-40B4-BE49-F238E27FC236}">
                <a16:creationId xmlns:a16="http://schemas.microsoft.com/office/drawing/2014/main" id="{FEC04548-433B-BC10-FD27-83D25F69C8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956" y="967843"/>
            <a:ext cx="2389037" cy="23890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265ee868302_0_130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265ee868302_0_130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265ee868302_0_130"/>
          <p:cNvSpPr txBox="1"/>
          <p:nvPr/>
        </p:nvSpPr>
        <p:spPr>
          <a:xfrm>
            <a:off x="340500" y="1406350"/>
            <a:ext cx="86532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latin typeface="Rubik"/>
                <a:ea typeface="Rubik"/>
                <a:cs typeface="Rubik"/>
                <a:sym typeface="Rubik"/>
              </a:rPr>
              <a:t>Data Analyst Associate, Datacamp</a:t>
            </a: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https://www.datacamp.com/certificate/DAA0019061999406</a:t>
            </a:r>
            <a:r>
              <a:rPr lang="en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							                                                                                                      May, 2025</a:t>
            </a:r>
            <a:endParaRPr b="0" i="0" u="none" strike="noStrike" cap="none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3" name="Google Shape;93;g265ee868302_0_130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>
                <a:latin typeface="Rubik"/>
                <a:ea typeface="Rubik"/>
                <a:cs typeface="Rubik"/>
                <a:sym typeface="Rubik"/>
              </a:rPr>
              <a:t>Courses and </a:t>
            </a:r>
            <a:r>
              <a:rPr lang="en" sz="3000" b="1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Certification</a:t>
            </a:r>
            <a:endParaRPr sz="3000" b="1" i="0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-1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 txBox="1"/>
          <p:nvPr/>
        </p:nvSpPr>
        <p:spPr>
          <a:xfrm>
            <a:off x="340500" y="1550576"/>
            <a:ext cx="5349100" cy="2520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	Kimia Farma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adalah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perusahaan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farmasi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pertama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di Indonesia yang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didirikan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pada 1817 oleh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pemerintah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Hindia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Belanda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dengan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nama NV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Chemicalien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Handle Rathkamp &amp; Co.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Setelah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dinasionalisasi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pasca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kemerdekaan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namanya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berubah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menjadi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PT Kimia Farma (Persero) pada 1971 dan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kini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menjadi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bagian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dari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Holding BUMN Farmasi di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bawah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PT Bio Farma (Persero).</a:t>
            </a: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200" dirty="0">
                <a:latin typeface="Rubik"/>
                <a:ea typeface="Rubik"/>
                <a:cs typeface="Rubik"/>
                <a:sym typeface="Rubik"/>
              </a:rPr>
              <a:t>	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Kimia Farma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menyediakan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layanan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kesehatan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terpadu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mulai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dari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produksi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dan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distribusi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obat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pengelolaan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apotek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hingga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layanan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klinik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laboratorium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, dan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telekonsultasi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.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Jaringan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apoteknya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tersebar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luas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di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seluruh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Indonesia,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mendukung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akses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masyarakat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terhadap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layanan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kesehatan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yang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terjangkau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dan </a:t>
            </a:r>
            <a:r>
              <a:rPr lang="en-ID" sz="1200" b="0" i="0" u="none" strike="noStrike" cap="none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berkualitas</a:t>
            </a:r>
            <a:r>
              <a:rPr lang="en-ID" sz="1200" b="0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  <p:sp>
        <p:nvSpPr>
          <p:cNvPr id="102" name="Google Shape;102;p4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>
                <a:latin typeface="Rubik"/>
                <a:ea typeface="Rubik"/>
                <a:cs typeface="Rubik"/>
                <a:sym typeface="Rubik"/>
              </a:rPr>
              <a:t>About </a:t>
            </a:r>
            <a:r>
              <a:rPr lang="en" sz="3000" b="1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Company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3" name="Google Shape;103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4338" y="2014161"/>
            <a:ext cx="3104925" cy="111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40500" y="1406350"/>
            <a:ext cx="83403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Sebagai seorang Big Data Analytics Intern di Kimia Farma, saya ditugaskan untuk mengevaluasi kinerja bisnis Kimia Farma dari tahun 2020 - 2023. Diberikan 4 dataset, yaitu dataset transaksi, penyimpanan, kantor cabang, dan produk. 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Dalam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proyek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ini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saya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memanfaatkan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SQL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BigQuery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untuk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mengolah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data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mentah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menjadi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sebuah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datamart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yang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siap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digunakan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untuk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analisis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dan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evaluasi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kinerja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bisnis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Kimia Farma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selama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periode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2020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hingga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2023. Hasil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dari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analisis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tersebut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kemudian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saya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visualisasikan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ID" sz="1200" b="1" dirty="0" err="1">
                <a:latin typeface="Rubik"/>
                <a:ea typeface="Rubik"/>
                <a:cs typeface="Rubik"/>
                <a:sym typeface="Rubik"/>
              </a:rPr>
              <a:t>menggunakan</a:t>
            </a:r>
            <a:r>
              <a:rPr lang="en-ID" sz="1200" b="1" dirty="0">
                <a:latin typeface="Rubik"/>
                <a:ea typeface="Rubik"/>
                <a:cs typeface="Rubik"/>
                <a:sym typeface="Rubik"/>
              </a:rPr>
              <a:t> Google Looker Studio.</a:t>
            </a:r>
            <a:endParaRPr sz="1200" b="0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lang="en" sz="3000" b="1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" name="Google Shape;113;g265ee868302_0_99">
            <a:extLst>
              <a:ext uri="{FF2B5EF4-FFF2-40B4-BE49-F238E27FC236}">
                <a16:creationId xmlns:a16="http://schemas.microsoft.com/office/drawing/2014/main" id="{F7630892-C41D-F6F1-1996-A2333ABB6252}"/>
              </a:ext>
            </a:extLst>
          </p:cNvPr>
          <p:cNvSpPr txBox="1"/>
          <p:nvPr/>
        </p:nvSpPr>
        <p:spPr>
          <a:xfrm>
            <a:off x="340500" y="4229827"/>
            <a:ext cx="30891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Project explanation github 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  <a:hlinkClick r:id="rId5"/>
              </a:rPr>
              <a:t>here</a:t>
            </a:r>
            <a:endParaRPr sz="12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13;g265ee868302_0_99">
            <a:extLst>
              <a:ext uri="{FF2B5EF4-FFF2-40B4-BE49-F238E27FC236}">
                <a16:creationId xmlns:a16="http://schemas.microsoft.com/office/drawing/2014/main" id="{76C1A976-4C61-FBBB-FAA6-7153FD3842FC}"/>
              </a:ext>
            </a:extLst>
          </p:cNvPr>
          <p:cNvSpPr txBox="1"/>
          <p:nvPr/>
        </p:nvSpPr>
        <p:spPr>
          <a:xfrm>
            <a:off x="5714402" y="4229826"/>
            <a:ext cx="30891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Project explanation video 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  <a:hlinkClick r:id="rId6"/>
              </a:rPr>
              <a:t>here</a:t>
            </a:r>
            <a:endParaRPr sz="1200" b="1" dirty="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23ec2985a68_1_33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3ec2985a68_1_33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3ec2985a68_1_33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Importing Dataset to BigQuery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1" name="Google Shape;121;g23ec2985a68_1_33"/>
          <p:cNvSpPr txBox="1"/>
          <p:nvPr/>
        </p:nvSpPr>
        <p:spPr>
          <a:xfrm>
            <a:off x="340500" y="3137053"/>
            <a:ext cx="8463000" cy="73863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Pada platform </a:t>
            </a:r>
            <a:r>
              <a:rPr lang="en-US" sz="1200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BigQuery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saya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membuat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project </a:t>
            </a:r>
            <a:r>
              <a:rPr lang="en-US" sz="1200" b="1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Rakamin-Kf-Analytics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dan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membuat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dataset </a:t>
            </a:r>
            <a:r>
              <a:rPr lang="en-US" sz="1200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kimia_farma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.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Setelah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itu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saya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mengupload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4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tabel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diberikan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ke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dataset </a:t>
            </a:r>
            <a:r>
              <a:rPr lang="en-US" sz="1200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kimia_farma</a:t>
            </a:r>
            <a:endParaRPr lang="en-US" sz="4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7EAC5-9E44-E69A-C4C4-B80902276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243" y="1244642"/>
            <a:ext cx="2065513" cy="1523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3ec2985a68_1_42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3ec2985a68_1_42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23ec2985a68_1_42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2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Tabel Analisa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F5B931-579F-4D02-F7D5-B6243894A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466" y="1190632"/>
            <a:ext cx="1723768" cy="1271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B65899-7B35-0B1E-8F7C-DDE94D638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767" y="1052338"/>
            <a:ext cx="1382833" cy="2397946"/>
          </a:xfrm>
          <a:prstGeom prst="rect">
            <a:avLst/>
          </a:prstGeom>
        </p:spPr>
      </p:pic>
      <p:sp>
        <p:nvSpPr>
          <p:cNvPr id="6" name="Google Shape;121;g23ec2985a68_1_33">
            <a:extLst>
              <a:ext uri="{FF2B5EF4-FFF2-40B4-BE49-F238E27FC236}">
                <a16:creationId xmlns:a16="http://schemas.microsoft.com/office/drawing/2014/main" id="{718F3454-E561-C67C-F92E-95656DF24479}"/>
              </a:ext>
            </a:extLst>
          </p:cNvPr>
          <p:cNvSpPr txBox="1"/>
          <p:nvPr/>
        </p:nvSpPr>
        <p:spPr>
          <a:xfrm>
            <a:off x="490681" y="3491233"/>
            <a:ext cx="7960591" cy="73863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Membuat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table Analisa Bernama </a:t>
            </a:r>
            <a:r>
              <a:rPr lang="en-US" sz="1200" b="1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tabel_analisa_transaksi</a:t>
            </a:r>
            <a:r>
              <a:rPr lang="en-US" sz="1200" b="1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berdasarkan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hasil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agregasi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dari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keempat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table yang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diupload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sebelumnya</a:t>
            </a:r>
            <a:endParaRPr lang="en-US" sz="4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3ec2985a68_1_4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3ec2985a68_1_4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23ec2985a68_1_49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3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BigQuery Syntax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4D9D3-E291-9F79-8D98-6E489F642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6361" y="1052338"/>
            <a:ext cx="2743374" cy="2760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B48726-BCFD-7E4C-4CAC-CC505285A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0088" y="1052338"/>
            <a:ext cx="3823559" cy="2760556"/>
          </a:xfrm>
          <a:prstGeom prst="rect">
            <a:avLst/>
          </a:prstGeom>
        </p:spPr>
      </p:pic>
      <p:sp>
        <p:nvSpPr>
          <p:cNvPr id="10" name="Google Shape;121;g23ec2985a68_1_33">
            <a:extLst>
              <a:ext uri="{FF2B5EF4-FFF2-40B4-BE49-F238E27FC236}">
                <a16:creationId xmlns:a16="http://schemas.microsoft.com/office/drawing/2014/main" id="{97BC6A68-EC7C-A303-2796-9828EF9851B4}"/>
              </a:ext>
            </a:extLst>
          </p:cNvPr>
          <p:cNvSpPr txBox="1"/>
          <p:nvPr/>
        </p:nvSpPr>
        <p:spPr>
          <a:xfrm>
            <a:off x="490682" y="3951559"/>
            <a:ext cx="6826918" cy="46163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Query di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atas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merupakan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query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untuk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membuat</a:t>
            </a:r>
            <a:r>
              <a:rPr lang="en-US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table </a:t>
            </a:r>
            <a:r>
              <a:rPr lang="en-US" sz="1200" dirty="0" err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analisa</a:t>
            </a:r>
            <a:endParaRPr lang="en-US" sz="4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Dashboard  Performance Analytics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4DF253-AEBA-7613-94B0-1FBA160C6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4692" y="1092634"/>
            <a:ext cx="4994616" cy="2958231"/>
          </a:xfrm>
          <a:prstGeom prst="rect">
            <a:avLst/>
          </a:prstGeom>
        </p:spPr>
      </p:pic>
      <p:sp>
        <p:nvSpPr>
          <p:cNvPr id="4" name="Google Shape;121;g23ec2985a68_1_33">
            <a:extLst>
              <a:ext uri="{FF2B5EF4-FFF2-40B4-BE49-F238E27FC236}">
                <a16:creationId xmlns:a16="http://schemas.microsoft.com/office/drawing/2014/main" id="{52362A59-1260-0894-A649-7AE6F8426A51}"/>
              </a:ext>
            </a:extLst>
          </p:cNvPr>
          <p:cNvSpPr txBox="1"/>
          <p:nvPr/>
        </p:nvSpPr>
        <p:spPr>
          <a:xfrm>
            <a:off x="490682" y="4229827"/>
            <a:ext cx="7785100" cy="73863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Berikut merupakan hasil analisis dan evaluasi kinerja Kimia Farma dari tahun 2020-2023 yang divisualisasikan menggunakan Google Looker Studio</a:t>
            </a:r>
            <a:endParaRPr lang="en-US" sz="48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" sz="4500" b="1" i="0" u="none" strike="noStrike" cap="non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 b="0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pic>
        <p:nvPicPr>
          <p:cNvPr id="2" name="Google Shape;61;p1">
            <a:extLst>
              <a:ext uri="{FF2B5EF4-FFF2-40B4-BE49-F238E27FC236}">
                <a16:creationId xmlns:a16="http://schemas.microsoft.com/office/drawing/2014/main" id="{4010AE8D-F444-033F-1635-221FF055306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1775" y="4138863"/>
            <a:ext cx="1581660" cy="5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437</Words>
  <Application>Microsoft Office PowerPoint</Application>
  <PresentationFormat>On-screen Show (16:9)</PresentationFormat>
  <Paragraphs>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Rubik Light</vt:lpstr>
      <vt:lpstr>Rubik SemiBold</vt:lpstr>
      <vt:lpstr>Arial</vt:lpstr>
      <vt:lpstr>Rubik</vt:lpstr>
      <vt:lpstr>Rubik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Software Solution</cp:lastModifiedBy>
  <cp:revision>5</cp:revision>
  <dcterms:modified xsi:type="dcterms:W3CDTF">2025-05-30T08:48:08Z</dcterms:modified>
</cp:coreProperties>
</file>